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5BA7-865A-4A49-8415-F917595C473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49FB5-A43A-4205-9EC2-186C34BECE9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69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5BA7-865A-4A49-8415-F917595C473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49FB5-A43A-4205-9EC2-186C34BEC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95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5BA7-865A-4A49-8415-F917595C473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49FB5-A43A-4205-9EC2-186C34BECE9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777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5BA7-865A-4A49-8415-F917595C473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49FB5-A43A-4205-9EC2-186C34BEC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7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5BA7-865A-4A49-8415-F917595C473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49FB5-A43A-4205-9EC2-186C34BEC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96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5BA7-865A-4A49-8415-F917595C473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49FB5-A43A-4205-9EC2-186C34BEC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481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5BA7-865A-4A49-8415-F917595C473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49FB5-A43A-4205-9EC2-186C34BEC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59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BB65BA7-865A-4A49-8415-F917595C473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249FB5-A43A-4205-9EC2-186C34BEC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17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5BA7-865A-4A49-8415-F917595C473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49FB5-A43A-4205-9EC2-186C34BEC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55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5BA7-865A-4A49-8415-F917595C473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49FB5-A43A-4205-9EC2-186C34BEC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5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5BA7-865A-4A49-8415-F917595C473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49FB5-A43A-4205-9EC2-186C34BEC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08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BB65BA7-865A-4A49-8415-F917595C473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A249FB5-A43A-4205-9EC2-186C34BECE9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058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daOmer/university-club-event-ontology" TargetMode="External"/><Relationship Id="rId2" Type="http://schemas.openxmlformats.org/officeDocument/2006/relationships/hyperlink" Target="https://ardaomer.github.io/university-club-event-ontology/widoco/UniversityClubEventOntology/index-en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A2BE-5D8C-5533-4C91-C016FE65ED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University Club and Event Management Ontology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E72ED-6E6E-EF5F-02C7-24EF6590CA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Knowledge Engineering and Ontologies</a:t>
            </a:r>
          </a:p>
          <a:p>
            <a:r>
              <a:rPr lang="en-US" dirty="0"/>
              <a:t>Arda Ömer</a:t>
            </a:r>
          </a:p>
          <a:p>
            <a:r>
              <a:rPr lang="en-US" dirty="0"/>
              <a:t>Manisa Celal Bayar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714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5358D-C799-5438-C27D-0114496F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9AF29-5376-A940-C527-E133AEC5F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</a:t>
            </a:r>
          </a:p>
          <a:p>
            <a:r>
              <a:rPr lang="en-US" dirty="0"/>
              <a:t>- University club information is often scattered across different systems.</a:t>
            </a:r>
          </a:p>
          <a:p>
            <a:r>
              <a:rPr lang="en-US" dirty="0"/>
              <a:t>- Relationships between students, clubs, and events are not represented semantically.</a:t>
            </a:r>
          </a:p>
          <a:p>
            <a:r>
              <a:rPr lang="en-US" dirty="0"/>
              <a:t>Objective:</a:t>
            </a:r>
          </a:p>
          <a:p>
            <a:r>
              <a:rPr lang="en-US" dirty="0"/>
              <a:t>- Develop an ontology-based knowledge graph for university club management.</a:t>
            </a:r>
          </a:p>
          <a:p>
            <a:r>
              <a:rPr lang="en-US" dirty="0"/>
              <a:t>- Support semantic querying and structured knowledge representation.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851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F69B9-E592-9364-6D82-2F0652A4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CFA7D-16C1-84EE-ED92-9490C09C8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5000" dirty="0"/>
              <a:t>Workflow:</a:t>
            </a:r>
          </a:p>
          <a:p>
            <a:r>
              <a:rPr lang="en-US" sz="2300" i="1" dirty="0"/>
              <a:t>Data Sources</a:t>
            </a:r>
            <a:br>
              <a:rPr lang="en-US" sz="2300" i="1" dirty="0"/>
            </a:br>
            <a:r>
              <a:rPr lang="en-US" sz="2300" i="1" dirty="0"/>
              <a:t>↓</a:t>
            </a:r>
            <a:br>
              <a:rPr lang="en-US" sz="2300" i="1" dirty="0"/>
            </a:br>
            <a:r>
              <a:rPr lang="en-US" sz="2300" i="1" dirty="0"/>
              <a:t>Ontology Design (OWL)</a:t>
            </a:r>
            <a:br>
              <a:rPr lang="en-US" sz="2300" i="1" dirty="0"/>
            </a:br>
            <a:r>
              <a:rPr lang="en-US" sz="2300" i="1" dirty="0"/>
              <a:t>↓</a:t>
            </a:r>
            <a:br>
              <a:rPr lang="en-US" sz="2300" i="1" dirty="0"/>
            </a:br>
            <a:r>
              <a:rPr lang="en-US" sz="2300" i="1" dirty="0"/>
              <a:t>RDF Knowledge Graph</a:t>
            </a:r>
            <a:br>
              <a:rPr lang="en-US" sz="2300" i="1" dirty="0"/>
            </a:br>
            <a:r>
              <a:rPr lang="en-US" sz="2300" i="1" dirty="0"/>
              <a:t>↓</a:t>
            </a:r>
            <a:br>
              <a:rPr lang="en-US" sz="2300" i="1" dirty="0"/>
            </a:br>
            <a:r>
              <a:rPr lang="en-US" sz="2300" i="1" dirty="0" err="1"/>
              <a:t>GraphDB</a:t>
            </a:r>
            <a:br>
              <a:rPr lang="en-US" sz="2300" i="1" dirty="0"/>
            </a:br>
            <a:r>
              <a:rPr lang="en-US" sz="2300" i="1" dirty="0"/>
              <a:t>↓</a:t>
            </a:r>
            <a:br>
              <a:rPr lang="en-US" sz="2300" i="1" dirty="0"/>
            </a:br>
            <a:r>
              <a:rPr lang="en-US" sz="2300" i="1" dirty="0"/>
              <a:t>SPARQL Queries</a:t>
            </a:r>
            <a:br>
              <a:rPr lang="en-US" sz="2300" i="1" dirty="0"/>
            </a:br>
            <a:r>
              <a:rPr lang="en-US" sz="2300" i="1" dirty="0"/>
              <a:t>↓</a:t>
            </a:r>
            <a:br>
              <a:rPr lang="en-US" sz="2300" i="1" dirty="0"/>
            </a:br>
            <a:r>
              <a:rPr lang="en-US" sz="2300" i="1" dirty="0"/>
              <a:t>Knowledge Retrieval</a:t>
            </a:r>
          </a:p>
          <a:p>
            <a:r>
              <a:rPr lang="en-US" sz="5000" dirty="0"/>
              <a:t>Tools:</a:t>
            </a:r>
          </a:p>
          <a:p>
            <a:r>
              <a:rPr lang="en-US" sz="2800" dirty="0"/>
              <a:t>- Protégé</a:t>
            </a:r>
          </a:p>
          <a:p>
            <a:r>
              <a:rPr lang="en-US" sz="2800" dirty="0"/>
              <a:t>- </a:t>
            </a:r>
            <a:r>
              <a:rPr lang="en-US" sz="2800" dirty="0" err="1"/>
              <a:t>GraphDB</a:t>
            </a:r>
            <a:endParaRPr lang="en-US" sz="2800" dirty="0"/>
          </a:p>
          <a:p>
            <a:r>
              <a:rPr lang="en-US" sz="2800" dirty="0"/>
              <a:t>- OWL</a:t>
            </a:r>
          </a:p>
          <a:p>
            <a:r>
              <a:rPr lang="en-US" sz="2800" dirty="0"/>
              <a:t>- RDF/Turtle</a:t>
            </a:r>
          </a:p>
          <a:p>
            <a:r>
              <a:rPr lang="en-US" sz="2800" dirty="0"/>
              <a:t>- SPARQL</a:t>
            </a:r>
          </a:p>
          <a:p>
            <a:r>
              <a:rPr lang="en-US" sz="2800" dirty="0"/>
              <a:t>- SHACL</a:t>
            </a:r>
          </a:p>
          <a:p>
            <a:r>
              <a:rPr lang="en-US" sz="2800" dirty="0"/>
              <a:t>- </a:t>
            </a:r>
            <a:r>
              <a:rPr lang="en-US" sz="2800" dirty="0" err="1"/>
              <a:t>Widoco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885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945B-FFB5-3685-C64D-9FA90C1A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Ontology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C2151-7096-C484-836E-9B430F8BC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4800" b="1" dirty="0"/>
              <a:t>Main Classes:</a:t>
            </a:r>
          </a:p>
          <a:p>
            <a:r>
              <a:rPr lang="en-US" sz="4800" i="1" dirty="0"/>
              <a:t>- Student</a:t>
            </a:r>
          </a:p>
          <a:p>
            <a:r>
              <a:rPr lang="en-US" sz="4800" i="1" dirty="0"/>
              <a:t>- Club</a:t>
            </a:r>
          </a:p>
          <a:p>
            <a:r>
              <a:rPr lang="en-US" sz="4800" i="1" dirty="0"/>
              <a:t>- Event</a:t>
            </a:r>
          </a:p>
          <a:p>
            <a:r>
              <a:rPr lang="en-US" sz="4800" i="1" dirty="0"/>
              <a:t>- Interest</a:t>
            </a:r>
          </a:p>
          <a:p>
            <a:r>
              <a:rPr lang="en-US" sz="4800" i="1" dirty="0"/>
              <a:t>- Recommendation</a:t>
            </a:r>
          </a:p>
          <a:p>
            <a:r>
              <a:rPr lang="en-US" sz="4800" i="1" dirty="0"/>
              <a:t>- Announcement</a:t>
            </a:r>
          </a:p>
          <a:p>
            <a:r>
              <a:rPr lang="en-US" sz="4800" i="1" dirty="0"/>
              <a:t>- Location</a:t>
            </a:r>
          </a:p>
          <a:p>
            <a:r>
              <a:rPr lang="en-US" sz="4800" b="1" dirty="0"/>
              <a:t>Ontology Reuse:</a:t>
            </a:r>
          </a:p>
          <a:p>
            <a:r>
              <a:rPr lang="en-US" sz="4800" i="1" dirty="0"/>
              <a:t>- FOAF</a:t>
            </a:r>
          </a:p>
          <a:p>
            <a:r>
              <a:rPr lang="en-US" sz="4800" i="1" dirty="0"/>
              <a:t>- Schema.org</a:t>
            </a:r>
          </a:p>
          <a:p>
            <a:r>
              <a:rPr lang="en-US" sz="4800" b="1" dirty="0"/>
              <a:t>Examples:</a:t>
            </a:r>
          </a:p>
          <a:p>
            <a:r>
              <a:rPr lang="en-US" sz="4800" i="1" dirty="0"/>
              <a:t>- Student → subclass of </a:t>
            </a:r>
            <a:r>
              <a:rPr lang="en-US" sz="4800" i="1" dirty="0" err="1"/>
              <a:t>foaf</a:t>
            </a:r>
            <a:endParaRPr lang="en-US" sz="4800" i="1" dirty="0"/>
          </a:p>
          <a:p>
            <a:r>
              <a:rPr lang="en-US" sz="4800" i="1" dirty="0"/>
              <a:t>- Event → subclass of schema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920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54D0-CE63-E828-BD67-83D9B7AA2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Ontology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B061A-0D0D-2A41-8FD9-CA1F574D7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Main Object Properties:</a:t>
            </a:r>
          </a:p>
          <a:p>
            <a:r>
              <a:rPr lang="en-US" i="1" dirty="0"/>
              <a:t>- </a:t>
            </a:r>
            <a:r>
              <a:rPr lang="en-US" i="1" dirty="0" err="1"/>
              <a:t>memberOf</a:t>
            </a:r>
            <a:endParaRPr lang="en-US" i="1" dirty="0"/>
          </a:p>
          <a:p>
            <a:r>
              <a:rPr lang="en-US" i="1" dirty="0"/>
              <a:t>- organizes</a:t>
            </a:r>
          </a:p>
          <a:p>
            <a:r>
              <a:rPr lang="en-US" i="1" dirty="0"/>
              <a:t>- attends</a:t>
            </a:r>
          </a:p>
          <a:p>
            <a:r>
              <a:rPr lang="en-US" i="1" dirty="0"/>
              <a:t>- </a:t>
            </a:r>
            <a:r>
              <a:rPr lang="en-US" i="1" dirty="0" err="1"/>
              <a:t>hasInterest</a:t>
            </a:r>
            <a:endParaRPr lang="en-US" i="1" dirty="0"/>
          </a:p>
          <a:p>
            <a:r>
              <a:rPr lang="en-US" i="1" dirty="0"/>
              <a:t>- </a:t>
            </a:r>
            <a:r>
              <a:rPr lang="en-US" i="1" dirty="0" err="1"/>
              <a:t>hasCategory</a:t>
            </a:r>
            <a:endParaRPr lang="en-US" i="1" dirty="0"/>
          </a:p>
          <a:p>
            <a:r>
              <a:rPr lang="en-US" i="1" dirty="0"/>
              <a:t>- </a:t>
            </a:r>
            <a:r>
              <a:rPr lang="en-US" i="1" dirty="0" err="1"/>
              <a:t>hasLocation</a:t>
            </a:r>
            <a:endParaRPr lang="en-US" i="1" dirty="0"/>
          </a:p>
          <a:p>
            <a:r>
              <a:rPr lang="en-US" i="1" dirty="0"/>
              <a:t>- </a:t>
            </a:r>
            <a:r>
              <a:rPr lang="en-US" i="1" dirty="0" err="1"/>
              <a:t>recommendedFor</a:t>
            </a:r>
            <a:endParaRPr lang="en-US" i="1" dirty="0"/>
          </a:p>
          <a:p>
            <a:r>
              <a:rPr lang="en-US" i="1" dirty="0"/>
              <a:t>- </a:t>
            </a:r>
            <a:r>
              <a:rPr lang="en-US" i="1" dirty="0" err="1"/>
              <a:t>recommendsEvent</a:t>
            </a:r>
            <a:endParaRPr lang="en-US" i="1" dirty="0"/>
          </a:p>
          <a:p>
            <a:r>
              <a:rPr lang="en-US" b="1" dirty="0"/>
              <a:t>Example:</a:t>
            </a:r>
          </a:p>
          <a:p>
            <a:r>
              <a:rPr lang="en-US" i="1" dirty="0" err="1"/>
              <a:t>ArdaStudent</a:t>
            </a:r>
            <a:br>
              <a:rPr lang="en-US" i="1" dirty="0"/>
            </a:br>
            <a:r>
              <a:rPr lang="en-US" i="1" dirty="0"/>
              <a:t>→ </a:t>
            </a:r>
            <a:r>
              <a:rPr lang="en-US" i="1" dirty="0" err="1"/>
              <a:t>memberOf</a:t>
            </a:r>
            <a:br>
              <a:rPr lang="en-US" i="1" dirty="0"/>
            </a:br>
            <a:r>
              <a:rPr lang="en-US" i="1" dirty="0"/>
              <a:t>→ </a:t>
            </a:r>
            <a:r>
              <a:rPr lang="en-US" i="1" dirty="0" err="1"/>
              <a:t>ComputerScienceClub</a:t>
            </a:r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818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5761-F825-FEA4-A858-CEB3C10B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AD18-2BE1-A852-1559-EC57FA1E1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Sources:</a:t>
            </a:r>
          </a:p>
          <a:p>
            <a:r>
              <a:rPr lang="en-US" sz="1100" i="1" dirty="0"/>
              <a:t>- University club scenarios</a:t>
            </a:r>
          </a:p>
          <a:p>
            <a:r>
              <a:rPr lang="en-US" sz="1100" i="1" dirty="0"/>
              <a:t>- Public club examples</a:t>
            </a:r>
          </a:p>
          <a:p>
            <a:r>
              <a:rPr lang="en-US" sz="1100" i="1" dirty="0"/>
              <a:t>- Synthetic educational dataset</a:t>
            </a:r>
          </a:p>
          <a:p>
            <a:r>
              <a:rPr lang="en-US" dirty="0"/>
              <a:t>Process:</a:t>
            </a:r>
          </a:p>
          <a:p>
            <a:r>
              <a:rPr lang="en-US" sz="1100" i="1" dirty="0"/>
              <a:t>- Entity identification</a:t>
            </a:r>
          </a:p>
          <a:p>
            <a:r>
              <a:rPr lang="en-US" sz="1100" i="1" dirty="0"/>
              <a:t>- Data modeling</a:t>
            </a:r>
          </a:p>
          <a:p>
            <a:r>
              <a:rPr lang="en-US" sz="1100" i="1" dirty="0"/>
              <a:t>- RDF transformation</a:t>
            </a:r>
          </a:p>
          <a:p>
            <a:r>
              <a:rPr lang="en-US" sz="1100" i="1" dirty="0"/>
              <a:t>- Knowledge graph population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310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744C-7DE6-97DC-0B4A-5AFEBB1E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Graph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D519-D71D-976E-ED4E-BC67D4247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Knowledge Graph Components:</a:t>
            </a:r>
          </a:p>
          <a:p>
            <a:r>
              <a:rPr lang="en-US" dirty="0"/>
              <a:t>Ontology Schema</a:t>
            </a:r>
          </a:p>
          <a:p>
            <a:r>
              <a:rPr lang="en-US" sz="1100" i="1" dirty="0"/>
              <a:t>- university-club-event-ontology-v2.ttl</a:t>
            </a:r>
          </a:p>
          <a:p>
            <a:r>
              <a:rPr lang="en-US" dirty="0"/>
              <a:t>Instance Data</a:t>
            </a:r>
          </a:p>
          <a:p>
            <a:r>
              <a:rPr lang="en-US" sz="1100" i="1" dirty="0"/>
              <a:t>- club-event-</a:t>
            </a:r>
            <a:r>
              <a:rPr lang="en-US" sz="1100" i="1" dirty="0" err="1"/>
              <a:t>data.ttl</a:t>
            </a:r>
            <a:endParaRPr lang="en-US" sz="1100" i="1" dirty="0"/>
          </a:p>
          <a:p>
            <a:r>
              <a:rPr lang="en-US" dirty="0"/>
              <a:t>Deployment:</a:t>
            </a:r>
          </a:p>
          <a:p>
            <a:r>
              <a:rPr lang="en-US" sz="1100" i="1" dirty="0"/>
              <a:t>- </a:t>
            </a:r>
            <a:r>
              <a:rPr lang="en-US" sz="1100" i="1" dirty="0" err="1"/>
              <a:t>GraphDB</a:t>
            </a:r>
            <a:r>
              <a:rPr lang="en-US" sz="1100" i="1" dirty="0"/>
              <a:t> Repository</a:t>
            </a:r>
          </a:p>
          <a:p>
            <a:r>
              <a:rPr lang="en-US" sz="1100" i="1" dirty="0"/>
              <a:t>- OWL2-RL Reasoning</a:t>
            </a:r>
          </a:p>
          <a:p>
            <a:r>
              <a:rPr lang="en-US" sz="1100" i="1" dirty="0"/>
              <a:t>- Total RDF triples imported into </a:t>
            </a:r>
            <a:r>
              <a:rPr lang="en-US" sz="1100" i="1" dirty="0" err="1"/>
              <a:t>GraphDB</a:t>
            </a:r>
            <a:endParaRPr lang="en-US" sz="11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18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5A379-3296-F83C-F99B-A14AC51D2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2C9E1-FF65-5635-2D04-51C7F618A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Competency Questions:</a:t>
            </a:r>
          </a:p>
          <a:p>
            <a:r>
              <a:rPr lang="en-US" sz="1200" i="1" dirty="0"/>
              <a:t>- Which students belong to a club?</a:t>
            </a:r>
          </a:p>
          <a:p>
            <a:r>
              <a:rPr lang="en-US" sz="1200" i="1" dirty="0"/>
              <a:t>- Which events are organized by a club?</a:t>
            </a:r>
          </a:p>
          <a:p>
            <a:r>
              <a:rPr lang="en-US" sz="1200" i="1" dirty="0"/>
              <a:t>- Which events match student interests?</a:t>
            </a:r>
          </a:p>
          <a:p>
            <a:r>
              <a:rPr lang="en-US" sz="1200" i="1" dirty="0"/>
              <a:t>- Which events are recommended?</a:t>
            </a:r>
          </a:p>
          <a:p>
            <a:r>
              <a:rPr lang="en-US" dirty="0"/>
              <a:t>Implemented:</a:t>
            </a:r>
          </a:p>
          <a:p>
            <a:r>
              <a:rPr lang="en-US" sz="1100" i="1" dirty="0"/>
              <a:t>- 10 SPARQL queries</a:t>
            </a:r>
          </a:p>
          <a:p>
            <a:r>
              <a:rPr lang="en-US" sz="1100" i="1" dirty="0"/>
              <a:t>- Retrieval queries</a:t>
            </a:r>
          </a:p>
          <a:p>
            <a:r>
              <a:rPr lang="en-US" sz="1100" i="1" dirty="0"/>
              <a:t>- Semantic relationship queries</a:t>
            </a:r>
          </a:p>
          <a:p>
            <a:r>
              <a:rPr lang="en-US" sz="1100" i="1" dirty="0"/>
              <a:t>- Aggregation queries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4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7EF96-EBF4-5931-54FA-CEF2DDC31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SPARQL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9F035-1C4D-9A7D-ABD5-CAECDA0D2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Query:</a:t>
            </a:r>
          </a:p>
          <a:p>
            <a:r>
              <a:rPr lang="en-US" sz="1900" dirty="0"/>
              <a:t>Find events organized by the Computer Science Club</a:t>
            </a:r>
          </a:p>
          <a:p>
            <a:r>
              <a:rPr lang="en-US" sz="1300" dirty="0"/>
              <a:t>PREFIX </a:t>
            </a:r>
            <a:r>
              <a:rPr lang="en-US" sz="1300" dirty="0" err="1"/>
              <a:t>uce</a:t>
            </a:r>
            <a:r>
              <a:rPr lang="en-US" sz="1300" dirty="0"/>
              <a:t>: &lt;http://example.org/university-club-event-ontology#&gt; </a:t>
            </a:r>
          </a:p>
          <a:p>
            <a:r>
              <a:rPr lang="en-US" sz="1300" dirty="0"/>
              <a:t>SELECT ?event ?</a:t>
            </a:r>
            <a:r>
              <a:rPr lang="en-US" sz="1300" dirty="0" err="1"/>
              <a:t>eventTitle</a:t>
            </a:r>
            <a:r>
              <a:rPr lang="en-US" sz="1300" dirty="0"/>
              <a:t> </a:t>
            </a:r>
          </a:p>
          <a:p>
            <a:r>
              <a:rPr lang="en-US" sz="1300" dirty="0"/>
              <a:t>WHERE { </a:t>
            </a:r>
          </a:p>
          <a:p>
            <a:r>
              <a:rPr lang="en-US" sz="1300" dirty="0" err="1"/>
              <a:t>uce:ComputerScienceClub</a:t>
            </a:r>
            <a:r>
              <a:rPr lang="en-US" sz="1300" dirty="0"/>
              <a:t> </a:t>
            </a:r>
            <a:r>
              <a:rPr lang="en-US" sz="1300" dirty="0" err="1"/>
              <a:t>uce:organizes</a:t>
            </a:r>
            <a:r>
              <a:rPr lang="en-US" sz="1300" dirty="0"/>
              <a:t> </a:t>
            </a:r>
          </a:p>
          <a:p>
            <a:r>
              <a:rPr lang="en-US" sz="1300" dirty="0"/>
              <a:t>?event . ?event </a:t>
            </a:r>
            <a:r>
              <a:rPr lang="en-US" sz="1300" dirty="0" err="1"/>
              <a:t>uce:eventTitle</a:t>
            </a:r>
            <a:r>
              <a:rPr lang="en-US" sz="1300" dirty="0"/>
              <a:t> ?</a:t>
            </a:r>
            <a:r>
              <a:rPr lang="en-US" sz="1300" dirty="0" err="1"/>
              <a:t>eventTitle</a:t>
            </a:r>
            <a:r>
              <a:rPr lang="en-US" sz="1300" dirty="0"/>
              <a:t> . </a:t>
            </a:r>
          </a:p>
          <a:p>
            <a:r>
              <a:rPr lang="en-US" sz="1300" dirty="0"/>
              <a:t>}</a:t>
            </a:r>
          </a:p>
          <a:p>
            <a:r>
              <a:rPr lang="en-US" sz="1900" dirty="0"/>
              <a:t>Expected Result:</a:t>
            </a:r>
          </a:p>
          <a:p>
            <a:r>
              <a:rPr lang="en-US" sz="1200" dirty="0"/>
              <a:t>AI Workshop 2026</a:t>
            </a:r>
          </a:p>
          <a:p>
            <a:r>
              <a:rPr lang="en-US" sz="1200" dirty="0"/>
              <a:t>Python Bootcamp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618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E3964-B1C3-5692-E916-B0960E32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SHACL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E5088-21ED-2AD8-1F21-59E7FF1AC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3600" dirty="0"/>
              <a:t>Validation Targets:</a:t>
            </a:r>
          </a:p>
          <a:p>
            <a:r>
              <a:rPr lang="en-US" dirty="0"/>
              <a:t>- Student</a:t>
            </a:r>
          </a:p>
          <a:p>
            <a:r>
              <a:rPr lang="en-US" dirty="0"/>
              <a:t>- Club</a:t>
            </a:r>
          </a:p>
          <a:p>
            <a:r>
              <a:rPr lang="en-US" dirty="0"/>
              <a:t>- Event</a:t>
            </a:r>
          </a:p>
          <a:p>
            <a:r>
              <a:rPr lang="en-US" dirty="0"/>
              <a:t>- Recommendation</a:t>
            </a:r>
          </a:p>
          <a:p>
            <a:r>
              <a:rPr lang="en-US" sz="3600" dirty="0"/>
              <a:t>Examples</a:t>
            </a:r>
            <a:r>
              <a:rPr lang="en-US" dirty="0"/>
              <a:t>:</a:t>
            </a:r>
          </a:p>
          <a:p>
            <a:r>
              <a:rPr lang="en-US" dirty="0"/>
              <a:t>- Every Student must have a </a:t>
            </a:r>
            <a:r>
              <a:rPr lang="en-US" dirty="0" err="1"/>
              <a:t>studentId</a:t>
            </a:r>
            <a:endParaRPr lang="en-US" dirty="0"/>
          </a:p>
          <a:p>
            <a:r>
              <a:rPr lang="en-US" dirty="0"/>
              <a:t>- Every Club must have a </a:t>
            </a:r>
            <a:r>
              <a:rPr lang="en-US" dirty="0" err="1"/>
              <a:t>clubName</a:t>
            </a:r>
            <a:endParaRPr lang="en-US" dirty="0"/>
          </a:p>
          <a:p>
            <a:r>
              <a:rPr lang="en-US" dirty="0"/>
              <a:t>- Every Event must have a date and location</a:t>
            </a:r>
          </a:p>
          <a:p>
            <a:r>
              <a:rPr lang="en-US" sz="3600" dirty="0"/>
              <a:t>Purpose:</a:t>
            </a:r>
          </a:p>
          <a:p>
            <a:r>
              <a:rPr lang="en-US" dirty="0"/>
              <a:t>- Data quality</a:t>
            </a:r>
          </a:p>
          <a:p>
            <a:r>
              <a:rPr lang="en-US" dirty="0"/>
              <a:t>- Consistency</a:t>
            </a:r>
          </a:p>
          <a:p>
            <a:r>
              <a:rPr lang="en-US" dirty="0"/>
              <a:t>- Constraint enforcement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238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0E75A-2BD2-62ED-5395-41F98AB88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29F3A-15B0-483A-8811-AAD4FD1BB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Achievements:</a:t>
            </a:r>
          </a:p>
          <a:p>
            <a:r>
              <a:rPr lang="en-US" sz="1100" dirty="0"/>
              <a:t>- Ontology successfully developed</a:t>
            </a:r>
          </a:p>
          <a:p>
            <a:r>
              <a:rPr lang="en-US" sz="1100" dirty="0"/>
              <a:t>- Knowledge graph deployed in </a:t>
            </a:r>
            <a:r>
              <a:rPr lang="en-US" sz="1100" dirty="0" err="1"/>
              <a:t>GraphDB</a:t>
            </a:r>
            <a:endParaRPr lang="en-US" sz="1100" dirty="0"/>
          </a:p>
          <a:p>
            <a:r>
              <a:rPr lang="en-US" sz="1100" dirty="0"/>
              <a:t>- SPARQL queries executed successfully</a:t>
            </a:r>
          </a:p>
          <a:p>
            <a:r>
              <a:rPr lang="en-US" sz="1100" dirty="0"/>
              <a:t>- SHACL constraints defined</a:t>
            </a:r>
          </a:p>
          <a:p>
            <a:r>
              <a:rPr lang="en-US" dirty="0"/>
              <a:t>Limitations:</a:t>
            </a:r>
          </a:p>
          <a:p>
            <a:r>
              <a:rPr lang="en-US" sz="1100" dirty="0"/>
              <a:t>- Small dataset</a:t>
            </a:r>
          </a:p>
          <a:p>
            <a:r>
              <a:rPr lang="en-US" sz="1100" dirty="0"/>
              <a:t>- Educational-scale graph</a:t>
            </a:r>
          </a:p>
          <a:p>
            <a:r>
              <a:rPr lang="en-US" sz="1100" dirty="0"/>
              <a:t>- No real-time data integration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176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598E-F939-6BBD-6C41-91D09494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8BB66-6999-7C02-E8D7-E9E3C4157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Conclusion:</a:t>
            </a:r>
          </a:p>
          <a:p>
            <a:r>
              <a:rPr lang="en-US" sz="1200" dirty="0"/>
              <a:t>Successfully modeled university club knowledge using Semantic Web technologies.</a:t>
            </a:r>
          </a:p>
          <a:p>
            <a:r>
              <a:rPr lang="en-US" sz="1200" dirty="0"/>
              <a:t>Created an operational knowledge graph.</a:t>
            </a:r>
          </a:p>
          <a:p>
            <a:r>
              <a:rPr lang="en-US" dirty="0"/>
              <a:t>Future Work:</a:t>
            </a:r>
          </a:p>
          <a:p>
            <a:r>
              <a:rPr lang="en-US" sz="1200" dirty="0"/>
              <a:t>Real university datasets</a:t>
            </a:r>
          </a:p>
          <a:p>
            <a:r>
              <a:rPr lang="en-US" sz="1200" dirty="0"/>
              <a:t>Larger knowledge graph</a:t>
            </a:r>
          </a:p>
          <a:p>
            <a:r>
              <a:rPr lang="en-US" sz="1100" dirty="0"/>
              <a:t>Advanced reasoning</a:t>
            </a:r>
          </a:p>
          <a:p>
            <a:r>
              <a:rPr lang="en-US" sz="1100" dirty="0"/>
              <a:t>Natural language interfaces</a:t>
            </a:r>
          </a:p>
          <a:p>
            <a:r>
              <a:rPr lang="en-US" dirty="0"/>
              <a:t>Appendix:</a:t>
            </a:r>
            <a:endParaRPr lang="en-US" sz="1100" dirty="0"/>
          </a:p>
          <a:p>
            <a:r>
              <a:rPr lang="en-US" sz="1200" u="sng" dirty="0">
                <a:hlinkClick r:id="rId2"/>
              </a:rPr>
              <a:t>https://ardaomer.github.io/university-club-event-ontology/widoco/UniversityClubEventOntology/index-en.html</a:t>
            </a:r>
            <a:endParaRPr lang="en-US" sz="1200" dirty="0"/>
          </a:p>
          <a:p>
            <a:r>
              <a:rPr lang="en-US" sz="1200" u="sng" dirty="0">
                <a:hlinkClick r:id="rId3"/>
              </a:rPr>
              <a:t>https://github.com/ArdaOmer/university-club-event-ontology</a:t>
            </a:r>
            <a:endParaRPr lang="en-US" dirty="0"/>
          </a:p>
          <a:p>
            <a:endParaRPr lang="en-US" dirty="0"/>
          </a:p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9993016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</TotalTime>
  <Words>521</Words>
  <Application>Microsoft Office PowerPoint</Application>
  <PresentationFormat>Widescreen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Retrospect</vt:lpstr>
      <vt:lpstr>University Club and Event Management Ontology</vt:lpstr>
      <vt:lpstr>Project Overview</vt:lpstr>
      <vt:lpstr>Project Architecture</vt:lpstr>
      <vt:lpstr>Ontology Design</vt:lpstr>
      <vt:lpstr>Ontology Relationships</vt:lpstr>
      <vt:lpstr>Data Acquisition</vt:lpstr>
      <vt:lpstr>Knowledge Graph Construction</vt:lpstr>
      <vt:lpstr>SPARQL Queries</vt:lpstr>
      <vt:lpstr>Example SPARQL Query</vt:lpstr>
      <vt:lpstr>SHACL Validation</vt:lpstr>
      <vt:lpstr>Results and Evaluation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ARDA O. 210315089</dc:creator>
  <cp:lastModifiedBy>ARDA O. 210315089</cp:lastModifiedBy>
  <cp:revision>2</cp:revision>
  <dcterms:created xsi:type="dcterms:W3CDTF">2026-06-04T16:17:30Z</dcterms:created>
  <dcterms:modified xsi:type="dcterms:W3CDTF">2026-06-04T16:49:52Z</dcterms:modified>
</cp:coreProperties>
</file>